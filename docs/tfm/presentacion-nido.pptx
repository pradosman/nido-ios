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Presentación: quién soy y qué es Nido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Motivación personal: experiencia propia como padre. Por qué existía la necesidad.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flujo principal: abrir app, ver anillos, registrar una toma, iniciar sueño.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Historia, Ritmos/Evolución, Crecimiento, widgets e informes.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recorrido de un registro: app → cola offline → API → PostgreSQL → otros cuidadores.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qué nativo: widgets, Live Activities y Sign in with Apple. Por qué PostgreSQL: datos relacionales de hogares.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la metodología TDD y mostrar AGENTS.md y la carpeta docs/ con evidencias.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qué importa la privacidad aquí y qué exige Apple para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Enseñar el endpoint de estado y el estado en App Store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personal: qué ha supuesto el proyecto y qué viene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Agradecimientos y enlaces.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6400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BFE6D6"/>
                </a:solidFill>
                <a:latin typeface="Inter"/>
              </a:rPr>
              <a:t>TRABAJO FIN DE MÁSTER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800" b="1">
                <a:solidFill>
                  <a:srgbClr val="F7F5F0"/>
                </a:solidFill>
                <a:latin typeface="Inter"/>
              </a:rPr>
              <a:t>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60350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0">
                <a:solidFill>
                  <a:srgbClr val="F7F5F0"/>
                </a:solidFill>
                <a:latin typeface="Inter"/>
              </a:rPr>
              <a:t>Una app nativa para iPhone que ayuda a las familias a registrar y compartir el cuidado diario del bebé.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60350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FE6D6"/>
                </a:solidFill>
                <a:latin typeface="Inter"/>
              </a:rPr>
              <a:t>David Prados Mancilla</a:t>
            </a:r>
          </a:p>
          <a:p>
            <a:pPr algn="l"/>
            <a:r>
              <a:rPr sz="1600" b="0">
                <a:solidFill>
                  <a:srgbClr val="BFE6D6"/>
                </a:solidFill>
                <a:latin typeface="Inter"/>
              </a:rPr>
              <a:t>Octubre 2026 · github.com/pradosman/nido-ios</a:t>
            </a:r>
          </a:p>
        </p:txBody>
      </p:sp>
      <p:pic>
        <p:nvPicPr>
          <p:cNvPr id="6" name="Picture 5" descr="to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57200"/>
            <a:ext cx="2734056" cy="5943600"/>
          </a:xfrm>
          <a:prstGeom prst="rect">
            <a:avLst/>
          </a:prstGeom>
        </p:spPr>
      </p:pic>
      <p:pic>
        <p:nvPicPr>
          <p:cNvPr id="7" name="Picture 6" descr="today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22960"/>
            <a:ext cx="256580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Los primeros meses son un caos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377440"/>
            <a:ext cx="457200" cy="457200"/>
          </a:xfrm>
          <a:prstGeom prst="ellipse">
            <a:avLst/>
          </a:prstGeom>
          <a:solidFill>
            <a:srgbClr val="F5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C2B26"/>
                </a:solidFill>
                <a:latin typeface="Inter"/>
              </a:rPr>
              <a:t>¿Cuándo comió por última vez?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28346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5B6762"/>
                </a:solidFill>
                <a:latin typeface="Inter"/>
              </a:rPr>
              <a:t>Cada toma, sueño y pañal se apunta en papel, notas o de memoria.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2377440"/>
            <a:ext cx="457200" cy="457200"/>
          </a:xfrm>
          <a:prstGeom prst="ellipse">
            <a:avLst/>
          </a:prstGeom>
          <a:solidFill>
            <a:srgbClr val="FFB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C2B26"/>
                </a:solidFill>
                <a:latin typeface="Inter"/>
              </a:rPr>
              <a:t>Varias personas cuidan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5B6762"/>
                </a:solidFill>
                <a:latin typeface="Inter"/>
              </a:rPr>
              <a:t>Padres, abuelos o cuidadores no comparten la misma información.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0116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19" y="2377440"/>
            <a:ext cx="457200" cy="457200"/>
          </a:xfrm>
          <a:prstGeom prst="ellipse">
            <a:avLst/>
          </a:prstGeom>
          <a:solidFill>
            <a:srgbClr val="10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1C2B26"/>
                </a:solidFill>
                <a:latin typeface="Inter"/>
              </a:rPr>
              <a:t>El pediatra pregunta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931920"/>
            <a:ext cx="283464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5B6762"/>
                </a:solidFill>
                <a:latin typeface="Inter"/>
              </a:rPr>
              <a:t>Peso, talla y rutinas se reconstruyen a última hora y con errores.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5C46"/>
                </a:solidFill>
                <a:latin typeface="Inter"/>
              </a:rPr>
              <a:t>Objetivo: un registro rápido, compartido, privado y útil para tomar decisiones.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Nido: registrar en segundos, entender de un vistazo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66928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Hoy</a:t>
            </a:r>
            <a:r>
              <a:rPr sz="1800">
                <a:solidFill>
                  <a:srgbClr val="5B6762"/>
                </a:solidFill>
                <a:latin typeface="Inter"/>
              </a:rPr>
              <a:t> — anillos de objetivos de sueño, tomas y pañales del día.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Registro rápido</a:t>
            </a:r>
            <a:r>
              <a:rPr sz="1800">
                <a:solidFill>
                  <a:srgbClr val="5B6762"/>
                </a:solidFill>
                <a:latin typeface="Inter"/>
              </a:rPr>
              <a:t> — alimentación, sueño, pañales y cuidados desde el botón +.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Sueño en curso</a:t>
            </a:r>
            <a:r>
              <a:rPr sz="1800">
                <a:solidFill>
                  <a:srgbClr val="5B6762"/>
                </a:solidFill>
                <a:latin typeface="Inter"/>
              </a:rPr>
              <a:t> — Live Activity y Dynamic Island que sobreviven al cierre de la app.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Hogar compartido</a:t>
            </a:r>
            <a:r>
              <a:rPr sz="1800">
                <a:solidFill>
                  <a:srgbClr val="5B6762"/>
                </a:solidFill>
                <a:latin typeface="Inter"/>
              </a:rPr>
              <a:t> — un perfil del bebé y cuidadores invitados con código.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Sin conexión</a:t>
            </a:r>
            <a:r>
              <a:rPr sz="1800">
                <a:solidFill>
                  <a:srgbClr val="5B6762"/>
                </a:solidFill>
                <a:latin typeface="Inter"/>
              </a:rPr>
              <a:t> — los cambios se sincronizan al volver la red.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Demo sin cuenta</a:t>
            </a:r>
            <a:r>
              <a:rPr sz="1800">
                <a:solidFill>
                  <a:srgbClr val="5B6762"/>
                </a:solidFill>
                <a:latin typeface="Inter"/>
              </a:rPr>
              <a:t> — datos sintéticos para probarlo todo sin login.</a:t>
            </a:r>
          </a:p>
        </p:txBody>
      </p:sp>
      <p:pic>
        <p:nvPicPr>
          <p:cNvPr id="5" name="Picture 4" descr="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2355494" cy="5120640"/>
          </a:xfrm>
          <a:prstGeom prst="rect">
            <a:avLst/>
          </a:prstGeom>
        </p:spPr>
      </p:pic>
      <p:pic>
        <p:nvPicPr>
          <p:cNvPr id="6" name="Picture 5" descr="isla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463040"/>
            <a:ext cx="235549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Historia, Ritmos y Crecimiento</a:t>
            </a:r>
          </a:p>
        </p:txBody>
      </p:sp>
      <p:pic>
        <p:nvPicPr>
          <p:cNvPr id="4" name="Picture 3" descr="hi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80868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103120"/>
            <a:ext cx="1691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1C2B26"/>
                </a:solidFill>
                <a:latin typeface="Inter"/>
              </a:rPr>
              <a:t>Historia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651760"/>
            <a:ext cx="169164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Calendario semanal con anillos, filtros y detalle por día.</a:t>
            </a:r>
          </a:p>
        </p:txBody>
      </p:sp>
      <p:pic>
        <p:nvPicPr>
          <p:cNvPr id="7" name="Picture 6" descr="grow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00200"/>
            <a:ext cx="1808683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2103120"/>
            <a:ext cx="1691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1C2B26"/>
                </a:solidFill>
                <a:latin typeface="Inter"/>
              </a:rPr>
              <a:t>Crecimiento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169164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Peso y talla con historial editable y sincronizado.</a:t>
            </a:r>
          </a:p>
        </p:txBody>
      </p:sp>
      <p:pic>
        <p:nvPicPr>
          <p:cNvPr id="10" name="Picture 9" descr="today_da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00200"/>
            <a:ext cx="1808683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78440" y="2103120"/>
            <a:ext cx="1691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1C2B26"/>
                </a:solidFill>
                <a:latin typeface="Inter"/>
              </a:rPr>
              <a:t>Diseño nativo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651760"/>
            <a:ext cx="169164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Modo oscuro, Dynamic Type y VoiceOver revisados.</a:t>
            </a:r>
          </a:p>
        </p:txBody>
      </p:sp>
      <p:pic>
        <p:nvPicPr>
          <p:cNvPr id="13" name="Picture 12" descr="widg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15000"/>
            <a:ext cx="1808703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34640" y="5806440"/>
            <a:ext cx="8686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5B6762"/>
                </a:solidFill>
                <a:latin typeface="Inter"/>
              </a:rPr>
              <a:t>Además: widgets de pantalla de inicio y bloqueo, informes para el pediatra, recordatorios y exportación de copia.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CÓMO ESTÁ CONSTRUIDO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743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1C2B26"/>
                </a:solidFill>
                <a:latin typeface="Inter"/>
              </a:rPr>
              <a:t>App iPhone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74320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SwiftUI · Swift 6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Core con lógica testable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Caché local y cola offline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Widgets + Live Activity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Modo demo aislado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17520"/>
            <a:ext cx="1005840" cy="411480"/>
          </a:xfrm>
          <a:prstGeom prst="rightArrow">
            <a:avLst/>
          </a:prstGeom>
          <a:solidFill>
            <a:srgbClr val="1F5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19" y="3520440"/>
            <a:ext cx="15544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1F5C46"/>
                </a:solidFill>
                <a:latin typeface="Inter"/>
              </a:rPr>
              <a:t>HTTPS · bearer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3108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057400"/>
            <a:ext cx="2560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1C2B26"/>
                </a:solidFill>
                <a:latin typeface="Inter"/>
              </a:rPr>
              <a:t>API 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560320"/>
            <a:ext cx="256032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TypeScript · Vinext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Node.js 24 standalone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Validación y rate limit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Hogares y cuidadores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Solo /api es público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66760" y="3017520"/>
            <a:ext cx="822960" cy="411480"/>
          </a:xfrm>
          <a:prstGeom prst="rightArrow">
            <a:avLst/>
          </a:prstGeom>
          <a:solidFill>
            <a:srgbClr val="1F5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520440"/>
            <a:ext cx="1371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1F5C46"/>
                </a:solidFill>
                <a:latin typeface="Inter"/>
              </a:rPr>
              <a:t>red interna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828800"/>
            <a:ext cx="2377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057400"/>
            <a:ext cx="1828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1C2B26"/>
                </a:solidFill>
                <a:latin typeface="Inter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560320"/>
            <a:ext cx="182880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Drizzle ORM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Migraciones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Sin puertos públicos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Copias cifradas (age)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F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6070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7F5F0"/>
                </a:solidFill>
                <a:latin typeface="Inter"/>
              </a:rPr>
              <a:t>Iniciar sesión con Apple → verificación del token en servidor → sesión bearer en Keychain.</a:t>
            </a:r>
          </a:p>
          <a:p>
            <a:pPr algn="l"/>
            <a:r>
              <a:rPr sz="1500" b="0">
                <a:solidFill>
                  <a:srgbClr val="F7F5F0"/>
                </a:solidFill>
                <a:latin typeface="Inter"/>
              </a:rPr>
              <a:t>Infraestructura: Docker Compose desplegado con Dokploy en un VPS, contenedores read-only y usuario sin privilegios.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Stack tecnológico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37744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>
                <a:solidFill>
                  <a:srgbClr val="1F5C46"/>
                </a:solidFill>
                <a:latin typeface="Inter"/>
              </a:rPr>
              <a:t>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83080"/>
            <a:ext cx="80467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C2B26"/>
                </a:solidFill>
                <a:latin typeface="Inter"/>
              </a:rPr>
              <a:t>Swift 6, SwiftUI, WidgetKit, ActivityKit, AuthenticationServices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32888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237744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>
                <a:solidFill>
                  <a:srgbClr val="1F5C46"/>
                </a:solidFill>
                <a:latin typeface="Inter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32888"/>
            <a:ext cx="80467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C2B26"/>
                </a:solidFill>
                <a:latin typeface="Inter"/>
              </a:rPr>
              <a:t>TypeScript, Vinext (Next.js sobre Vite), Node.js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82696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82696"/>
            <a:ext cx="237744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>
                <a:solidFill>
                  <a:srgbClr val="1F5C46"/>
                </a:solidFill>
                <a:latin typeface="Inter"/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82696"/>
            <a:ext cx="80467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C2B26"/>
                </a:solidFill>
                <a:latin typeface="Inter"/>
              </a:rPr>
              <a:t>PostgreSQL 17, Drizzle ORM y drizzle-kit, PGlite en pruebas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32504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32504"/>
            <a:ext cx="237744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>
                <a:solidFill>
                  <a:srgbClr val="1F5C46"/>
                </a:solidFill>
                <a:latin typeface="Inter"/>
              </a:rPr>
              <a:t>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032504"/>
            <a:ext cx="80467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C2B26"/>
                </a:solidFill>
                <a:latin typeface="Inter"/>
              </a:rPr>
              <a:t>Sign in with Apple, jose (JWT), sesiones bearer, revocación de Apple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82312"/>
            <a:ext cx="237744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>
                <a:solidFill>
                  <a:srgbClr val="1F5C46"/>
                </a:solidFill>
                <a:latin typeface="Inter"/>
              </a:rPr>
              <a:t>Infraestructura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82312"/>
            <a:ext cx="80467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C2B26"/>
                </a:solidFill>
                <a:latin typeface="Inter"/>
              </a:rPr>
              <a:t>Docker, Docker Compose, Dokploy, VPS, HTTPS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3212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237744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800" b="1">
                <a:solidFill>
                  <a:srgbClr val="1F5C46"/>
                </a:solidFill>
                <a:latin typeface="Inter"/>
              </a:rPr>
              <a:t>Calidad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532120"/>
            <a:ext cx="8046720" cy="621792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C2B26"/>
                </a:solidFill>
                <a:latin typeface="Inter"/>
              </a:rPr>
              <a:t>Swift Testing, XCTest UI, snapshots, node:test, ESLint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Desarrollo guiado por pruebas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F53D7F"/>
                </a:solidFill>
                <a:latin typeface="Inter"/>
              </a:rPr>
              <a:t>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pruebas del núcleo</a:t>
            </a:r>
          </a:p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Swift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0574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FFB23F"/>
                </a:solidFill>
                <a:latin typeface="Inter"/>
              </a:rPr>
              <a:t>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1752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pruebas de interfaz</a:t>
            </a:r>
          </a:p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XCTest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10B8A6"/>
                </a:solidFill>
                <a:latin typeface="Inter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contratos y pruebas</a:t>
            </a:r>
          </a:p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de la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82880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20574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1F5C46"/>
                </a:solidFill>
                <a:latin typeface="Inter"/>
              </a:rPr>
              <a:t>≈ 19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301752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líneas Swift</a:t>
            </a:r>
          </a:p>
          <a:p>
            <a:pPr algn="l"/>
            <a:r>
              <a:rPr sz="1500" b="0">
                <a:solidFill>
                  <a:srgbClr val="5B6762"/>
                </a:solidFill>
                <a:latin typeface="Inter"/>
              </a:rPr>
              <a:t>de la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C2B26"/>
                </a:solidFill>
                <a:latin typeface="Inter"/>
              </a:rPr>
              <a:t>•  Rojo → verde → refactor</a:t>
            </a:r>
            <a:r>
              <a:rPr sz="1700">
                <a:solidFill>
                  <a:srgbClr val="5B6762"/>
                </a:solidFill>
                <a:latin typeface="Inter"/>
              </a:rPr>
              <a:t> — cada cambio de comportamiento empieza con una prueba que falla.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6"/>
                </a:solidFill>
                <a:latin typeface="Inter"/>
              </a:rPr>
              <a:t>•  Lógica fuera de las vistas</a:t>
            </a:r>
            <a:r>
              <a:rPr sz="1700">
                <a:solidFill>
                  <a:srgbClr val="5B6762"/>
                </a:solidFill>
                <a:latin typeface="Inter"/>
              </a:rPr>
              <a:t> — el núcleo es un paquete Swift probado sin simulador.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C2B26"/>
                </a:solidFill>
                <a:latin typeface="Inter"/>
              </a:rPr>
              <a:t>•  Evidencias versionadas</a:t>
            </a:r>
            <a:r>
              <a:rPr sz="1700">
                <a:solidFill>
                  <a:srgbClr val="5B6762"/>
                </a:solidFill>
                <a:latin typeface="Inter"/>
              </a:rPr>
              <a:t> — capturas, logs y validación en iPhone físico en docs/.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DATOS DE UN BEBÉ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Privacidad y seguridad desde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58368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Sin publicidad ni rastreo</a:t>
            </a:r>
            <a:r>
              <a:rPr sz="1800">
                <a:solidFill>
                  <a:srgbClr val="5B6762"/>
                </a:solidFill>
                <a:latin typeface="Inter"/>
              </a:rPr>
              <a:t> — manifiesto de privacidad y etiquetas de App Store revisadas.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Borrado de cuenta real</a:t>
            </a:r>
            <a:r>
              <a:rPr sz="1800">
                <a:solidFill>
                  <a:srgbClr val="5B6762"/>
                </a:solidFill>
                <a:latin typeface="Inter"/>
              </a:rPr>
              <a:t> — elimina los datos y revoca la autorización de Apple.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Mínima superficie</a:t>
            </a:r>
            <a:r>
              <a:rPr sz="1800">
                <a:solidFill>
                  <a:srgbClr val="5B6762"/>
                </a:solidFill>
                <a:latin typeface="Inter"/>
              </a:rPr>
              <a:t> — / responde 404; solo /api es público y PostgreSQL no se expone.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Copias cifradas</a:t>
            </a:r>
            <a:r>
              <a:rPr sz="1800">
                <a:solidFill>
                  <a:srgbClr val="5B6762"/>
                </a:solidFill>
                <a:latin typeface="Inter"/>
              </a:rPr>
              <a:t> — pg_dump directo a age, con restauración probada.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C2B26"/>
                </a:solidFill>
                <a:latin typeface="Inter"/>
              </a:rPr>
              <a:t>•  Demo aislada</a:t>
            </a:r>
            <a:r>
              <a:rPr sz="1800">
                <a:solidFill>
                  <a:srgbClr val="5B6762"/>
                </a:solidFill>
                <a:latin typeface="Inter"/>
              </a:rPr>
              <a:t> — nunca toca datos reales ni publica widgets o avisos.</a:t>
            </a:r>
          </a:p>
        </p:txBody>
      </p:sp>
      <p:sp>
        <p:nvSpPr>
          <p:cNvPr id="5" name="Donut 4"/>
          <p:cNvSpPr/>
          <p:nvPr/>
        </p:nvSpPr>
        <p:spPr>
          <a:xfrm>
            <a:off x="7498080" y="1920240"/>
            <a:ext cx="4023360" cy="4023360"/>
          </a:xfrm>
          <a:prstGeom prst="donut">
            <a:avLst>
              <a:gd name="adj" fmla="val 18000"/>
            </a:avLst>
          </a:prstGeom>
          <a:solidFill>
            <a:srgbClr val="F5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8001000" y="2423160"/>
            <a:ext cx="3017520" cy="3017520"/>
          </a:xfrm>
          <a:prstGeom prst="donut">
            <a:avLst>
              <a:gd name="adj" fmla="val 18000"/>
            </a:avLst>
          </a:prstGeom>
          <a:solidFill>
            <a:srgbClr val="FFB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8503920" y="2926080"/>
            <a:ext cx="2011680" cy="2011680"/>
          </a:xfrm>
          <a:prstGeom prst="donut">
            <a:avLst>
              <a:gd name="adj" fmla="val 18000"/>
            </a:avLst>
          </a:prstGeom>
          <a:solidFill>
            <a:srgbClr val="10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DESPLIEGUE Y PUBLICACIÓN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Del código a producción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F53D7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100" b="1">
                <a:solidFill>
                  <a:srgbClr val="1C2B26"/>
                </a:solidFill>
                <a:latin typeface="Inter"/>
              </a:rPr>
              <a:t>API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292608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nido.momentumia.com/api/nido/status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Dokploy + Docker Compose en un VPS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0312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FFB23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88036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100" b="1">
                <a:solidFill>
                  <a:srgbClr val="1C2B26"/>
                </a:solidFill>
                <a:latin typeface="Inter"/>
              </a:rPr>
              <a:t>App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74720"/>
            <a:ext cx="292608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Nido 0.1.0 (50) enviada a revisión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con publicación automática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92024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210312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0B8A6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2880360"/>
            <a:ext cx="29260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100" b="1">
                <a:solidFill>
                  <a:srgbClr val="1C2B26"/>
                </a:solidFill>
                <a:latin typeface="Inter"/>
              </a:rPr>
              <a:t>Probar sin cuenta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3474720"/>
            <a:ext cx="292608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Botón «Explorar demostración»</a:t>
            </a:r>
          </a:p>
          <a:p>
            <a:pPr algn="l"/>
            <a:r>
              <a:rPr sz="1400" b="0">
                <a:solidFill>
                  <a:srgbClr val="5B6762"/>
                </a:solidFill>
                <a:latin typeface="Inter"/>
              </a:rPr>
              <a:t>sin usuario ni contraseña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1F5C46"/>
                </a:solidFill>
                <a:latin typeface="Inter"/>
              </a:rPr>
              <a:t>El acceso real usa Iniciar sesión con Apple, que no admite un usuario y contraseña compartidos.</a:t>
            </a:r>
          </a:p>
          <a:p>
            <a:pPr algn="l"/>
            <a:r>
              <a:rPr sz="1700" b="0">
                <a:solidFill>
                  <a:srgbClr val="1F5C46"/>
                </a:solidFill>
                <a:latin typeface="Inter"/>
              </a:rPr>
              <a:t>Por eso la app incluye una demo completa con datos ficticios para la corrección y para App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F5C46"/>
                </a:solidFill>
                <a:latin typeface="Inter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400" b="1">
                <a:solidFill>
                  <a:srgbClr val="1C2B26"/>
                </a:solidFill>
                <a:latin typeface="Inter"/>
              </a:rPr>
              <a:t>Aprendizajes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5C46"/>
                </a:solidFill>
                <a:latin typeface="Inter"/>
              </a:rPr>
              <a:t>Lo que me llevo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3035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Llevar un producto completo de la idea a la App Store.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TDD también en interfaz, sincronización y despliegue.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Diseñar para accesibilidad y modo oscuro desde el principio.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Operar un servicio: migraciones, copias y recuperación.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5C46"/>
                </a:solidFill>
                <a:latin typeface="Inter"/>
              </a:rPr>
              <a:t>Siguiente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3035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Publicación pública tras la aprobación de Apple.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App para Apple Watch para registrar sin sacar el móvil.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Más informes pediátricos y percentiles de crecimiento.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2B26"/>
                </a:solidFill>
                <a:latin typeface="Inter"/>
              </a:rPr>
              <a:t>•  Pruebas con familias reales y mejora continua.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7200" b="1">
                <a:solidFill>
                  <a:srgbClr val="F7F5F0"/>
                </a:solidFill>
                <a:latin typeface="Inter"/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0">
                <a:solidFill>
                  <a:srgbClr val="F7F5F0"/>
                </a:solidFill>
                <a:latin typeface="Inter"/>
              </a:rPr>
              <a:t>Código · github.com/pradosman/nido-ios</a:t>
            </a:r>
          </a:p>
          <a:p>
            <a:pPr algn="l"/>
            <a:r>
              <a:rPr sz="2200" b="0">
                <a:solidFill>
                  <a:srgbClr val="F7F5F0"/>
                </a:solidFill>
                <a:latin typeface="Inter"/>
              </a:rPr>
              <a:t>API · nido.momentumia.com/api/nido/status</a:t>
            </a:r>
          </a:p>
          <a:p>
            <a:pPr algn="l"/>
            <a:r>
              <a:rPr sz="2200" b="0">
                <a:solidFill>
                  <a:srgbClr val="F7F5F0"/>
                </a:solidFill>
                <a:latin typeface="Inter"/>
              </a:rPr>
              <a:t>Prueba · abre la app y pulsa «Explorar demostración»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FE6D6"/>
                </a:solidFill>
                <a:latin typeface="Inter"/>
              </a:rPr>
              <a:t>David Prados Mancilla · Trabajo Fin de Máster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